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76418B-CC74-4824-91F6-1042456295E5}">
  <a:tblStyle styleId="{4676418B-CC74-4824-91F6-1042456295E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5D46590-1081-48B5-BC62-A6A60D184C7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c54e47e1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c54e47e1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c54e47e1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c54e47e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c54e47e1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c54e47e1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c5d19f5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c5d19f5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c5d19f5c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c5d19f5c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5d19f5c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c5d19f5c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c5d19f5c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c5d19f5c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c5d19f5c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c5d19f5c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c5d19f5c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c5d19f5c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45700" y="1158125"/>
            <a:ext cx="8266800" cy="15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Analiza MVCC mehanizma u PostgreSQL-u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68050" y="322990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Autor: Julija Ristic 1923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Sadrzaj: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28500" y="1694350"/>
            <a:ext cx="8365500" cy="3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MVCC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Tuple Versioning i uloga xmin/xmax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Snapshot mehanizam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Izolacioni nivoi i njihova primena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VACUUM mehanizam i Dead Tuples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Primeri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Prednosti i ograničenja MVCC-a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Zaključak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279450" y="302250"/>
            <a:ext cx="8734800" cy="11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MVCC - Multi-Version Concurrency Control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19600" y="2145775"/>
            <a:ext cx="49347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Umesto jedne verzije sloga - sistem čuva </a:t>
            </a:r>
            <a:r>
              <a:rPr b="1" lang="en" sz="1200">
                <a:solidFill>
                  <a:schemeClr val="lt1"/>
                </a:solidFill>
              </a:rPr>
              <a:t>više simultanih verzija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Svaka transakcija vidi </a:t>
            </a:r>
            <a:r>
              <a:rPr b="1" lang="en" sz="1200">
                <a:solidFill>
                  <a:schemeClr val="lt1"/>
                </a:solidFill>
              </a:rPr>
              <a:t>konzistentni snimak</a:t>
            </a:r>
            <a:r>
              <a:rPr lang="en" sz="1200">
                <a:solidFill>
                  <a:schemeClr val="lt1"/>
                </a:solidFill>
              </a:rPr>
              <a:t> baze u trenutku svog pokretanja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Ključni princip: </a:t>
            </a:r>
            <a:r>
              <a:rPr b="1" lang="en" sz="1200">
                <a:solidFill>
                  <a:schemeClr val="lt1"/>
                </a:solidFill>
              </a:rPr>
              <a:t>čitaoci nikada ne blokiraju pisce, pisci nikada ne blokiraju čitaoce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000" y="1557525"/>
            <a:ext cx="38195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45525"/>
            <a:ext cx="8379300" cy="782400"/>
          </a:xfrm>
          <a:prstGeom prst="rect">
            <a:avLst/>
          </a:prstGeom>
        </p:spPr>
        <p:txBody>
          <a:bodyPr anchorCtr="0" anchor="b" bIns="93175" lIns="93175" spcFirstLastPara="1" rIns="93175" wrap="square" tIns="931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34"/>
              </a:spcBef>
              <a:spcAft>
                <a:spcPts val="408"/>
              </a:spcAft>
              <a:buNone/>
            </a:pPr>
            <a:r>
              <a:rPr b="1" lang="en" sz="2500">
                <a:latin typeface="Arial"/>
                <a:ea typeface="Arial"/>
                <a:cs typeface="Arial"/>
                <a:sym typeface="Arial"/>
              </a:rPr>
              <a:t>Četiri principa MVCC-a</a:t>
            </a:r>
            <a:endParaRPr sz="25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1900" y="1948425"/>
            <a:ext cx="3446700" cy="2762100"/>
          </a:xfrm>
          <a:prstGeom prst="rect">
            <a:avLst/>
          </a:prstGeom>
        </p:spPr>
        <p:txBody>
          <a:bodyPr anchorCtr="0" anchor="t" bIns="93175" lIns="93175" spcFirstLastPara="1" rIns="93175" wrap="square" tIns="93175">
            <a:noAutofit/>
          </a:bodyPr>
          <a:lstStyle/>
          <a:p>
            <a:pPr indent="-304152" lvl="0" marL="465934" rtl="0" algn="l">
              <a:spcBef>
                <a:spcPts val="1223"/>
              </a:spcBef>
              <a:spcAft>
                <a:spcPts val="0"/>
              </a:spcAft>
              <a:buClr>
                <a:srgbClr val="000000"/>
              </a:buClr>
              <a:buSzPts val="1121"/>
              <a:buFont typeface="Arial"/>
              <a:buAutoNum type="arabicPeriod"/>
            </a:pPr>
            <a:r>
              <a:rPr b="1"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Nedestruktivne izmene</a:t>
            </a:r>
            <a:r>
              <a:rPr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stara verzija ostaje, kreira se nova</a:t>
            </a:r>
            <a:endParaRPr sz="11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52" lvl="0" marL="465934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1"/>
              <a:buFont typeface="Arial"/>
              <a:buAutoNum type="arabicPeriod"/>
            </a:pPr>
            <a:r>
              <a:rPr b="1"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 snimka</a:t>
            </a:r>
            <a:r>
              <a:rPr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transakcija dobija konzistentnu sliku u trenutku starta</a:t>
            </a:r>
            <a:endParaRPr sz="11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52" lvl="0" marL="465934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1"/>
              <a:buFont typeface="Arial"/>
              <a:buAutoNum type="arabicPeriod"/>
            </a:pPr>
            <a:r>
              <a:rPr b="1"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Izolovanost čitanja</a:t>
            </a:r>
            <a:r>
              <a:rPr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read ne blokira write i obratno</a:t>
            </a:r>
            <a:endParaRPr sz="11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152" lvl="0" marL="465934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1"/>
              <a:buFont typeface="Arial"/>
              <a:buAutoNum type="arabicPeriod"/>
            </a:pPr>
            <a:r>
              <a:rPr b="1"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Garbage collection</a:t>
            </a:r>
            <a:r>
              <a:rPr lang="en" sz="11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periodično čišćenje zastarelih verzija (VACUUM)</a:t>
            </a:r>
            <a:endParaRPr sz="112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23"/>
              </a:spcBef>
              <a:spcAft>
                <a:spcPts val="1631"/>
              </a:spcAft>
              <a:buNone/>
            </a:pPr>
            <a:r>
              <a:t/>
            </a:r>
            <a:endParaRPr sz="1834"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000" y="2052525"/>
            <a:ext cx="4584475" cy="242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Tuple Versioning i uloga xmin/xmax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Svaki red u tabeli =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, jedan logički red - više fizičkih tuple-ova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Svaki tuple nosi zaglavlje sa: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22262B"/>
                </a:solidFill>
                <a:latin typeface="Roboto Mono"/>
                <a:ea typeface="Roboto Mono"/>
                <a:cs typeface="Roboto Mono"/>
                <a:sym typeface="Roboto Mono"/>
              </a:rPr>
              <a:t>xmin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 - XID transakcije koja ga je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kreirala</a:t>
            </a:r>
            <a:endParaRPr b="1"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22262B"/>
                </a:solidFill>
                <a:latin typeface="Roboto Mono"/>
                <a:ea typeface="Roboto Mono"/>
                <a:cs typeface="Roboto Mono"/>
                <a:sym typeface="Roboto Mono"/>
              </a:rPr>
              <a:t>xmax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 - XID transakcije koja ga je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obrisala/zamenila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 (0 = živ)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22262B"/>
                </a:solidFill>
                <a:latin typeface="Roboto Mono"/>
                <a:ea typeface="Roboto Mono"/>
                <a:cs typeface="Roboto Mono"/>
                <a:sym typeface="Roboto Mono"/>
              </a:rPr>
              <a:t>ctid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 - fizička adresa (stranica + slot)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Tabele su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append-only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: UPDATE = označi stari (xmax) + kreiraj novi (xmin)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Fizičko brisanje prepušteno VACUUM-u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969650"/>
            <a:ext cx="3705225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Snapshot mehanizam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88150" y="1465800"/>
            <a:ext cx="3148800" cy="3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Snapshot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= struktura koja pamti koji XID-ovi su bili aktivni u trenutku kreiranja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Tri komponente: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xmin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(snimka) - najmanji aktivni XID - sve ispod je završeno i poznato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xmax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(snimka) - gornja granica - sve iznad nije ni počelo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xip_list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- lista aktivnih XID-ova koji moraju biti eksplicitno isključeni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Bez zaključavanja: transakcija sama odlučuje šta vidi na osnovu snimka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950" y="872700"/>
            <a:ext cx="5435075" cy="34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Izolacioni nivoi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Read Committed: Novi snimak se povlači pri svakom upitu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Repeatable Read: Isti snimak traje celu transakciju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Sprečavanje prljavog, neponovljivog i fantomskog čitanja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Serializable: Implementacija SSI tehnike sa proverom ciklusa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Garancija linearne egzekucije i visoke zaštite podataka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" name="Google Shape;109;p19"/>
          <p:cNvGraphicFramePr/>
          <p:nvPr/>
        </p:nvGraphicFramePr>
        <p:xfrm>
          <a:off x="3350125" y="35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{4676418B-CC74-4824-91F6-1042456295E5}</a:tableStyleId>
              </a:tblPr>
              <a:tblGrid>
                <a:gridCol w="1154300"/>
                <a:gridCol w="1361600"/>
                <a:gridCol w="1032700"/>
                <a:gridCol w="1029225"/>
                <a:gridCol w="1028650"/>
              </a:tblGrid>
              <a:tr h="903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Nivo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Snimak se uzima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Dirty Read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Non-Rep. Read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Phantom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102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Read Committed</a:t>
                      </a:r>
                      <a:r>
                        <a:rPr lang="en" sz="900"/>
                        <a:t> </a:t>
                      </a:r>
                      <a:r>
                        <a:rPr i="1" lang="en" sz="900"/>
                        <a:t>(default)</a:t>
                      </a:r>
                      <a:endParaRPr i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Po svakom upitu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Moguće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Moguće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127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Repeatable Read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Jednom na startu transakcije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Sprečeno*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127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900"/>
                        <a:t>Serializable (SSI)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Jednom + praćenje zavisnosti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900"/>
                        <a:t>Sprečeno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226075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VACUUM i Dead Tuples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Dead tuples: Stare verzije postaju trajno nevidljive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Posledica nebrisanja: Ekstremni pad performansi (Data Bloat)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Autovacuum: Pozadinski daemon koji neprekidno skenira bazu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Običan VACUUM: Oslobađa mesta, ali ne smanjuje prostor na disku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Neophodno stalno čišćenje kod operacija učestalog ažuriranja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175" y="46950"/>
            <a:ext cx="3044026" cy="304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5475" y="3090976"/>
            <a:ext cx="4373450" cy="174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460950" y="4370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xmin/xmax atributi - INSERT i UPDATE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62B"/>
                </a:solidFill>
              </a:rPr>
              <a:t>Pre UPDATE:</a:t>
            </a:r>
            <a:endParaRPr>
              <a:solidFill>
                <a:srgbClr val="22262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62B"/>
                </a:solidFill>
              </a:rPr>
              <a:t>Posle UPDATE:</a:t>
            </a:r>
            <a:endParaRPr>
              <a:solidFill>
                <a:srgbClr val="22262B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000" y="2657075"/>
            <a:ext cx="4471800" cy="171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825" y="2657063"/>
            <a:ext cx="4580474" cy="18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66450" y="281450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pageinspect - mrtvi tuple-ovi su stvarni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50050" y="19109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Ekstenzija pageinspect otkriva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fizički sadržaj heap stranice</a:t>
            </a:r>
            <a:endParaRPr b="1"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Regularni SELECT vidi samo slot 7 - MVCC filtrira mrtve tuple-ove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Stari tuple t_ctid = (0,7),</a:t>
            </a:r>
            <a:b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ukazuje na noviju verziju =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lanac verzija</a:t>
            </a:r>
            <a:endParaRPr b="1"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2400" y="1049150"/>
            <a:ext cx="4640200" cy="394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60950" y="5124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Read Committed vs Repeatable Read</a:t>
            </a:r>
            <a:endParaRPr/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434200" y="1700350"/>
            <a:ext cx="3949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 Committed (non-repeatable read):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>
            <p:ph idx="2" type="body"/>
          </p:nvPr>
        </p:nvSpPr>
        <p:spPr>
          <a:xfrm>
            <a:off x="4618825" y="16082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Repeatable Read (konzistentni snimak):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1" name="Google Shape;141;p23"/>
          <p:cNvGraphicFramePr/>
          <p:nvPr/>
        </p:nvGraphicFramePr>
        <p:xfrm>
          <a:off x="4536925" y="210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{4676418B-CC74-4824-91F6-1042456295E5}</a:tableStyleId>
              </a:tblPr>
              <a:tblGrid>
                <a:gridCol w="1893800"/>
                <a:gridCol w="1507725"/>
              </a:tblGrid>
              <a:tr h="542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/>
                        <a:t>Sesija 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/>
                        <a:t>Sesija B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93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700"/>
                        <a:t>BEGIN ISOLATION LEVEL REPEATABLE READ; SELECT → </a:t>
                      </a:r>
                      <a:r>
                        <a:rPr b="1" lang="en" sz="700"/>
                        <a:t>10000</a:t>
                      </a:r>
                      <a:endParaRPr b="1"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/>
                        <a:t>—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24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/>
                        <a:t>—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700"/>
                        <a:t>UPDATE stanje=20000; COMMIT;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487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700"/>
                        <a:t>SELECT → </a:t>
                      </a:r>
                      <a:r>
                        <a:rPr b="1" lang="en" sz="700"/>
                        <a:t>10000</a:t>
                      </a:r>
                      <a:r>
                        <a:rPr lang="en" sz="700"/>
                        <a:t> ← snimak zamrznut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/>
                        <a:t>—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2" name="Google Shape;142;p23"/>
          <p:cNvGraphicFramePr/>
          <p:nvPr/>
        </p:nvGraphicFramePr>
        <p:xfrm>
          <a:off x="250450" y="203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{4676418B-CC74-4824-91F6-1042456295E5}</a:tableStyleId>
              </a:tblPr>
              <a:tblGrid>
                <a:gridCol w="2192775"/>
                <a:gridCol w="1525675"/>
              </a:tblGrid>
              <a:tr h="56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/>
                        <a:t>Sesija 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/>
                        <a:t>Sesija B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1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700"/>
                        <a:t>BEGIN; SELECT stanje → </a:t>
                      </a:r>
                      <a:r>
                        <a:rPr b="1" lang="en" sz="700"/>
                        <a:t>10000</a:t>
                      </a:r>
                      <a:endParaRPr b="1"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/>
                        <a:t>—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81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/>
                        <a:t>—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700"/>
                        <a:t>UPDATE stanje=15000; COMMIT;</a:t>
                      </a:r>
                      <a:endParaRPr sz="700"/>
                    </a:p>
                  </a:txBody>
                  <a:tcPr marT="91425" marB="91425" marR="91425" marL="91425"/>
                </a:tc>
              </a:tr>
              <a:tr h="72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700"/>
                        <a:t>SELECT stanje → </a:t>
                      </a:r>
                      <a:r>
                        <a:rPr b="1" lang="en" sz="700"/>
                        <a:t>15000</a:t>
                      </a:r>
                      <a:r>
                        <a:rPr lang="en" sz="700"/>
                        <a:t> ← isti upit, drugi rezultat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/>
                        <a:t>—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Serializable SSI - detekcija write skew</a:t>
            </a:r>
            <a:endParaRPr sz="3500"/>
          </a:p>
        </p:txBody>
      </p:sp>
      <p:graphicFrame>
        <p:nvGraphicFramePr>
          <p:cNvPr id="148" name="Google Shape;148;p24"/>
          <p:cNvGraphicFramePr/>
          <p:nvPr/>
        </p:nvGraphicFramePr>
        <p:xfrm>
          <a:off x="1775450" y="179650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{F5D46590-1081-48B5-BC62-A6A60D184C76}</a:tableStyleId>
              </a:tblPr>
              <a:tblGrid>
                <a:gridCol w="563775"/>
                <a:gridCol w="2313200"/>
                <a:gridCol w="2437425"/>
              </a:tblGrid>
              <a:tr h="20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Vreme</a:t>
                      </a:r>
                      <a:endParaRPr b="1" sz="1050"/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Sesija A (SERIALIZABLE)</a:t>
                      </a:r>
                      <a:endParaRPr b="1" sz="1050"/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/>
                        <a:t>Sesija B (SERIALIZABLE)</a:t>
                      </a:r>
                      <a:endParaRPr b="1" sz="1050"/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3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t1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BEGIN; SET ISOLATION LEVEL SERIALIZABLE;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3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BEGIN; SET ISOLATION LEVEL SERIALIZABLE;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t2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833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SELECT SUM(stanje) FROM racuni WHERE id IN (1,2); → 2000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833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SELECT SUM(stanje) FROM racuni WHERE id IN (1,2); → 2000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t3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UPDATE racuni SET stanje = stanje - 1500 WHERE id = 1;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6666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UPDATE racuni SET stanje = stanje - 1500 WHERE id = 2;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t4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37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COMMIT; → </a:t>
                      </a:r>
                      <a:r>
                        <a:rPr b="1" lang="en" sz="1050"/>
                        <a:t>uspešno</a:t>
                      </a:r>
                      <a:endParaRPr b="1"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38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-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833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t5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833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-</a:t>
                      </a:r>
                      <a:endParaRPr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50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/>
                        <a:t>COMMIT; → </a:t>
                      </a:r>
                      <a:r>
                        <a:rPr b="1" lang="en" sz="1050"/>
                        <a:t>ERROR </a:t>
                      </a:r>
                      <a:endParaRPr b="1" sz="1050"/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4376350"/>
            <a:ext cx="64008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471900" y="389425"/>
            <a:ext cx="2721000" cy="111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Data Bloat</a:t>
            </a:r>
            <a:endParaRPr sz="3600"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0" y="1919075"/>
            <a:ext cx="3074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Svaki UPDATE kreira novi tuple, stari ostaje kao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mrtvi tuple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Akumulacija mrtvih tuple-ova =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bloat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Merenje (3 runde UPDATE-a na 1005 redova):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Isti broj živih redova, tabela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4× veća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Utiče na: vreme skeniranja, keš, indekse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925" y="930650"/>
            <a:ext cx="5313625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925" y="2896250"/>
            <a:ext cx="5313624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VACUUM: rešenje za data bloat</a:t>
            </a:r>
            <a:endParaRPr sz="3500"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64900" y="1919075"/>
            <a:ext cx="32046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VACUUM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 = mehanizam za uklanjanje mrtvih tuple-ova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Autovacuum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 - automatski, u pozadini; prag: 50 + 0.20 × n_live_tup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Za tabelu od 1005 redova - prag = </a:t>
            </a: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251 mrtvih tuple-ova</a:t>
            </a:r>
            <a:endParaRPr b="1"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Standardni VACUUM</a:t>
            </a:r>
            <a:r>
              <a:rPr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: oslobađa prostor unutar PostgreSQL-a (ne vraća OS-u)</a:t>
            </a:r>
            <a:endParaRPr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 txBox="1"/>
          <p:nvPr>
            <p:ph idx="2" type="body"/>
          </p:nvPr>
        </p:nvSpPr>
        <p:spPr>
          <a:xfrm>
            <a:off x="4694250" y="1506425"/>
            <a:ext cx="3999900" cy="31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Posle VACUUM-a:</a:t>
            </a:r>
            <a:endParaRPr/>
          </a:p>
        </p:txBody>
      </p:sp>
      <p:pic>
        <p:nvPicPr>
          <p:cNvPr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550" y="2186850"/>
            <a:ext cx="5435650" cy="16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265500" y="414850"/>
            <a:ext cx="4045200" cy="23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Prednosti i ograničenja MVCC-a</a:t>
            </a:r>
            <a:endParaRPr/>
          </a:p>
        </p:txBody>
      </p:sp>
      <p:sp>
        <p:nvSpPr>
          <p:cNvPr id="171" name="Google Shape;171;p27"/>
          <p:cNvSpPr txBox="1"/>
          <p:nvPr>
            <p:ph idx="1" type="subTitle"/>
          </p:nvPr>
        </p:nvSpPr>
        <p:spPr>
          <a:xfrm>
            <a:off x="4759725" y="1275642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Prednosti: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Optimizacija Index-Only Scan (Visibility Map)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Drastično manji broj zaključavanja i ekstremna skalabilnost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Idealno za višekorisničku (OLTP) i analitičku sredinu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Ograničenja:</a:t>
            </a: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Hardverski troškovi prostora na serverima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Preduge transakcije direktno blokiraju pozadinsko pometanje baze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Zaključak</a:t>
            </a:r>
            <a:endParaRPr sz="3000"/>
          </a:p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3763250" y="816775"/>
            <a:ext cx="48039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2262B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MVCC balansira dve suprotstavljene sile u bazama</a:t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22262B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Očuvanje konzistentnosti bez žrtvovanja performansi korisnika</a:t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22262B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Kompleksan sistem xmin/xmax vrednosti i Snapshot pravila</a:t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22262B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Efikasnost VACUUM pozadinskog procesa diktira stabilnost</a:t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900"/>
              </a:spcBef>
              <a:spcAft>
                <a:spcPts val="0"/>
              </a:spcAft>
              <a:buClr>
                <a:srgbClr val="22262B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22262B"/>
                </a:solidFill>
                <a:latin typeface="Arial"/>
                <a:ea typeface="Arial"/>
                <a:cs typeface="Arial"/>
                <a:sym typeface="Arial"/>
              </a:rPr>
              <a:t>Referentni standard svih naprednih relacijskih okruženja</a:t>
            </a:r>
            <a:endParaRPr>
              <a:solidFill>
                <a:srgbClr val="2226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62B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idx="4294967295" type="title"/>
          </p:nvPr>
        </p:nvSpPr>
        <p:spPr>
          <a:xfrm>
            <a:off x="773700" y="1844950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Hvala na paznji!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83" name="Google Shape;183;p29"/>
          <p:cNvCxnSpPr/>
          <p:nvPr/>
        </p:nvCxnSpPr>
        <p:spPr>
          <a:xfrm flipH="1" rot="10800000">
            <a:off x="3128675" y="2653200"/>
            <a:ext cx="2921400" cy="1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